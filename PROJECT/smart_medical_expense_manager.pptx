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B35B-15DF-1563-E1E6-3845FCA76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6EE55-FF90-A823-16A1-6F6450F84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645E6-E02A-630E-9E35-B5509852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CFF2-04C4-D152-4B8C-AFED00A0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B12CE-DCE2-96EF-7CEE-8E5D563E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81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6BCA-7DA4-AC5D-DB5B-BF00F775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1BD7-71AC-9349-A609-C51E816F4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B6FAA-61B0-77BB-CEF0-F1CF07A3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6C92B-15E0-3E8F-AD28-102BD8E9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FF385-A966-EA8E-0ECE-49D772CA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21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8E79-18B3-6824-A352-5DD67F9E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9A1D8-509A-42D0-50B0-76D2447C3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07469-EB53-4791-3819-CB948CD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43A63-86B2-56C2-146C-375C09EF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B58CA-558F-0BA3-2E77-81074CAA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6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20D9-4F99-6D14-D995-CAA15D3F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9739-08A2-9366-52EB-7D3C17D39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E9B05-C5F0-60AB-4006-D800F2FCB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45333-A7F4-9901-56FD-ACDD167D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76C3F-6B03-39CA-5636-A61F11DF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9D20D-CA3D-5E6B-0E76-D97F909C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79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7F43-199E-9BCE-4D50-8954E0BE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944D7-22FF-36E1-07F6-22B641C1A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578C-0C27-36FD-D472-D82FECC0B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E7AE5-1AAE-E65C-8B3C-DFFEBDDFC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FE1B1-3F36-0693-EC88-BD4DD6BA7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C6DC3-E138-7203-3032-7A1B1C8F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A86E1-47F6-C489-4161-38C1E5B2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2C850-8984-D4A3-A7DE-A2403DF6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12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10CE-4398-0C10-BE9E-9D6A4199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4C36B-338F-4187-B505-9F3CCC6A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0D226-7EC5-6E85-9BBB-1CCA9096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ED67B-ACA7-C075-7748-E1BB773F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5109B3-7EF0-CD32-1BFA-5328B75A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A2E8F-C387-572C-CD62-8CF7A66F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60C2C-1F2B-51AB-C9F8-19DB9992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1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6AEC-9BA0-FC55-91D9-596305A8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D214-E3F2-EEB2-2959-022E2A6FF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0B84B-ADF1-B398-7318-B2C5B1F95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AFB36-A21B-414B-9428-9E72946D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86F34-1B4B-6F27-5041-44614842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251D5-4BB1-F69B-6B1F-7E84E162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7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2E39-BD9F-5C3C-D08A-AB8A6285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02E83-9BBB-546C-6579-DB7689994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81896-3FD0-751E-CB7B-EA1C04BDB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8E466-427F-63B4-ED25-284497B2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9ABBE-94A1-F6B9-10C0-40671AE5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34366-3637-7934-0DF7-A5830FB1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5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C403-1CBB-80EC-73A8-3EDB4CFC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4E7E-9512-F79C-3FD5-4EBFF865A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D681-3469-5E46-6E8F-BB3E5942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37A4-C073-9A53-503A-8B3D7CE9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E962-73F4-EA2D-AED4-1273FAF7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5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82872-BD1F-5FE4-6E63-AD318388E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1EE48-43E8-58C9-147D-9441A5177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C8A8-3FED-5156-3D67-A68A70FF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C20D-3E76-6CC2-EA7D-E05C92D0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1B5D8-51DD-5D53-BABF-6B8E5E54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0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0BA52-6A8D-EDB3-CBD0-0AAD804F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28725-ED4F-0BC9-E489-8DF39A73F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81F21-289C-BD44-047B-155F9FB92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B1A81-041A-5B2C-CADF-7173BB18D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9948D-7CCA-4327-C4DE-AA33A24A4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7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FA9D-AA8C-183A-340F-4284C253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00F163-E7FA-1B2C-D5E0-4ABC6D628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D2B560-468C-AE00-FD08-190FAA9C2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Smart Medical Expense Manager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8AD9CD-CFB0-97F2-617B-EF14201326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552756"/>
            <a:ext cx="698088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>
              <a:lnSpc>
                <a:spcPct val="110000"/>
              </a:lnSpc>
            </a:pPr>
            <a:r>
              <a:rPr lang="en-US" sz="1800" b="1" dirty="0">
                <a:latin typeface="Open sans" panose="020B0606030504020204" pitchFamily="34" charset="0"/>
              </a:rPr>
              <a:t>Tagline: </a:t>
            </a:r>
            <a:r>
              <a:rPr lang="en-US" sz="1800" b="0" dirty="0">
                <a:latin typeface="Open sans" panose="020B0606030504020204" pitchFamily="34" charset="0"/>
              </a:rPr>
              <a:t>"Turning confusing hospital bills into smart financial decisions"</a:t>
            </a:r>
          </a:p>
          <a:p>
            <a:pPr algn="l">
              <a:lnSpc>
                <a:spcPct val="110000"/>
              </a:lnSpc>
            </a:pPr>
            <a:r>
              <a:rPr lang="en-US" sz="1800" b="1" dirty="0">
                <a:latin typeface="Open sans" panose="020B0606030504020204" pitchFamily="34" charset="0"/>
              </a:rPr>
              <a:t>Event:  </a:t>
            </a:r>
            <a:r>
              <a:rPr lang="en-US" sz="1800" b="1" dirty="0" err="1">
                <a:latin typeface="Open sans" panose="020B0606030504020204" pitchFamily="34" charset="0"/>
              </a:rPr>
              <a:t>DevCraft</a:t>
            </a:r>
            <a:r>
              <a:rPr lang="en-US" sz="1800" b="1" dirty="0">
                <a:latin typeface="Open sans" panose="020B0606030504020204" pitchFamily="34" charset="0"/>
              </a:rPr>
              <a:t>-</a:t>
            </a:r>
            <a:r>
              <a:rPr lang="en-US" sz="1800" b="0" dirty="0">
                <a:latin typeface="Open sans" panose="020B0606030504020204" pitchFamily="34" charset="0"/>
              </a:rPr>
              <a:t>Hackathon 2026</a:t>
            </a:r>
          </a:p>
          <a:p>
            <a:pPr algn="l">
              <a:lnSpc>
                <a:spcPct val="110000"/>
              </a:lnSpc>
            </a:pPr>
            <a:r>
              <a:rPr lang="en-US" sz="1800" b="1" dirty="0">
                <a:latin typeface="Open sans" panose="020B0606030504020204" pitchFamily="34" charset="0"/>
              </a:rPr>
              <a:t>Domain: </a:t>
            </a:r>
            <a:r>
              <a:rPr lang="en-US" sz="1800" b="0" dirty="0">
                <a:latin typeface="Open sans" panose="020B0606030504020204" pitchFamily="34" charset="0"/>
              </a:rPr>
              <a:t>HealthTech / FinTech</a:t>
            </a:r>
          </a:p>
        </p:txBody>
      </p:sp>
    </p:spTree>
    <p:extLst>
      <p:ext uri="{BB962C8B-B14F-4D97-AF65-F5344CB8AC3E}">
        <p14:creationId xmlns:p14="http://schemas.microsoft.com/office/powerpoint/2010/main" val="367993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8B3B-0FDC-937D-B730-D2DCFE2D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A4A0CE-87ED-FA30-F1CA-9ABEA2411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E70B9-3D8E-AC8C-FD71-33A8999FB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C42E2-B03A-1F39-A18A-616A4BA032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0" dirty="0">
                <a:latin typeface="Open sans" panose="020B0606030504020204" pitchFamily="34" charset="0"/>
              </a:rPr>
              <a:t>Medical bills are confusing, unplanned, and inefficient.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Problem 1: </a:t>
            </a:r>
            <a:r>
              <a:rPr lang="en-US" sz="1800" b="0" dirty="0">
                <a:latin typeface="Open sans" panose="020B0606030504020204" pitchFamily="34" charset="0"/>
              </a:rPr>
              <a:t>Complex bills with hidden charges patients can't decode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Problem 2: </a:t>
            </a:r>
            <a:r>
              <a:rPr lang="en-US" sz="1800" b="0" dirty="0">
                <a:latin typeface="Open sans" panose="020B0606030504020204" pitchFamily="34" charset="0"/>
              </a:rPr>
              <a:t>Emergencies cause severe financial stress and debt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Problem 3: </a:t>
            </a:r>
            <a:r>
              <a:rPr lang="en-US" sz="1800" b="0" dirty="0">
                <a:latin typeface="Open sans" panose="020B0606030504020204" pitchFamily="34" charset="0"/>
              </a:rPr>
              <a:t>People overpay without knowing cheaper alternatives exist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Problem 4: </a:t>
            </a:r>
            <a:r>
              <a:rPr lang="en-US" sz="1800" b="0" dirty="0">
                <a:latin typeface="Open sans" panose="020B0606030504020204" pitchFamily="34" charset="0"/>
              </a:rPr>
              <a:t>No clarity on what insurance covers or how to claim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Key Gap: </a:t>
            </a:r>
            <a:r>
              <a:rPr lang="en-US" sz="1800" b="0" dirty="0">
                <a:latin typeface="Open sans" panose="020B0606030504020204" pitchFamily="34" charset="0"/>
              </a:rPr>
              <a:t>Patients lack tools to understand, compare, and optimize medical costs</a:t>
            </a:r>
          </a:p>
        </p:txBody>
      </p:sp>
    </p:spTree>
    <p:extLst>
      <p:ext uri="{BB962C8B-B14F-4D97-AF65-F5344CB8AC3E}">
        <p14:creationId xmlns:p14="http://schemas.microsoft.com/office/powerpoint/2010/main" val="342013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82DC-8B8F-5773-F3B9-0B382CCD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D13157-B955-921F-107B-76F8794C0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BE8F45-6E88-24FC-6BE1-2BF874E6C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Target Audience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A2422-340E-8474-6CA8-CC69D2C589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Primary: </a:t>
            </a:r>
            <a:r>
              <a:rPr lang="en-US" sz="1800" b="0" dirty="0">
                <a:latin typeface="Open sans" panose="020B0606030504020204" pitchFamily="34" charset="0"/>
              </a:rPr>
              <a:t>Middle-class patients managing out-of-pocket medical expenses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Secondary: </a:t>
            </a:r>
            <a:r>
              <a:rPr lang="en-US" sz="1800" b="0" dirty="0">
                <a:latin typeface="Open sans" panose="020B0606030504020204" pitchFamily="34" charset="0"/>
              </a:rPr>
              <a:t>Senior citizens dealing with frequent hospital visits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Tertiary: </a:t>
            </a:r>
            <a:r>
              <a:rPr lang="en-US" sz="1800" b="0" dirty="0">
                <a:latin typeface="Open sans" panose="020B0606030504020204" pitchFamily="34" charset="0"/>
              </a:rPr>
              <a:t>Young adults with limited financial literacy on health costs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Also Targeting: </a:t>
            </a:r>
            <a:r>
              <a:rPr lang="en-US" sz="1800" b="0" dirty="0">
                <a:latin typeface="Open sans" panose="020B0606030504020204" pitchFamily="34" charset="0"/>
              </a:rPr>
              <a:t>Families without adequate health insurance coverage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Market Size: </a:t>
            </a:r>
            <a:r>
              <a:rPr lang="en-US" sz="1800" b="0" dirty="0">
                <a:latin typeface="Open sans" panose="020B0606030504020204" pitchFamily="34" charset="0"/>
              </a:rPr>
              <a:t>500M+ people in India face medical expense challenges annually</a:t>
            </a:r>
          </a:p>
        </p:txBody>
      </p:sp>
    </p:spTree>
    <p:extLst>
      <p:ext uri="{BB962C8B-B14F-4D97-AF65-F5344CB8AC3E}">
        <p14:creationId xmlns:p14="http://schemas.microsoft.com/office/powerpoint/2010/main" val="365731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0F17-D71F-4E5D-8264-47A9F6A2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C68430-CC32-D06A-B654-DB3AF9A53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DFB8E-8883-9ACA-6E6F-AA08D471D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Existing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32734-F5D3-955D-986B-0A58CBD1BA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1. </a:t>
            </a:r>
            <a:r>
              <a:rPr lang="en-US" sz="1800" b="0" dirty="0">
                <a:latin typeface="Open sans" panose="020B0606030504020204" pitchFamily="34" charset="0"/>
              </a:rPr>
              <a:t>Health Insurance Apps — cover only insured amounts, not transparency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2. </a:t>
            </a:r>
            <a:r>
              <a:rPr lang="en-US" sz="1800" b="0" dirty="0">
                <a:latin typeface="Open sans" panose="020B0606030504020204" pitchFamily="34" charset="0"/>
              </a:rPr>
              <a:t>Hospital Billing Portals — raw bills with no breakdown or insights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3. </a:t>
            </a:r>
            <a:r>
              <a:rPr lang="en-US" sz="1800" b="0" dirty="0">
                <a:latin typeface="Open sans" panose="020B0606030504020204" pitchFamily="34" charset="0"/>
              </a:rPr>
              <a:t>Personal Finance Apps (Walnut, YNAB) — not healthcare-specific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4. </a:t>
            </a:r>
            <a:r>
              <a:rPr lang="en-US" sz="1800" b="0" dirty="0">
                <a:latin typeface="Open sans" panose="020B0606030504020204" pitchFamily="34" charset="0"/>
              </a:rPr>
              <a:t>Manual Spreadsheets — error-prone, time-consuming, not smart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5. </a:t>
            </a:r>
            <a:r>
              <a:rPr lang="en-US" sz="1800" b="0" dirty="0">
                <a:latin typeface="Open sans" panose="020B0606030504020204" pitchFamily="34" charset="0"/>
              </a:rPr>
              <a:t>Generic chatbots — can't scan bills or suggest real alternatives</a:t>
            </a:r>
          </a:p>
        </p:txBody>
      </p:sp>
    </p:spTree>
    <p:extLst>
      <p:ext uri="{BB962C8B-B14F-4D97-AF65-F5344CB8AC3E}">
        <p14:creationId xmlns:p14="http://schemas.microsoft.com/office/powerpoint/2010/main" val="236141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8092-3A14-DA37-5C79-FFB96B58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6E1A02-DDF7-89F3-98B0-23412617B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5C0A3-67F8-05CD-6B78-1C156A8A8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Gaps &amp; Opportunities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9272C-21BB-FC22-D358-FB4BA9D50E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Gap 1: </a:t>
            </a:r>
            <a:r>
              <a:rPr lang="en-US" sz="1800" b="0" dirty="0">
                <a:latin typeface="Open sans" panose="020B0606030504020204" pitchFamily="34" charset="0"/>
              </a:rPr>
              <a:t>No tool that scans and explains medical bills in simple language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Gap 2: </a:t>
            </a:r>
            <a:r>
              <a:rPr lang="en-US" sz="1800" b="0" dirty="0">
                <a:latin typeface="Open sans" panose="020B0606030504020204" pitchFamily="34" charset="0"/>
              </a:rPr>
              <a:t>No AI-powered price comparison for treatments and medicines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Gap 3: </a:t>
            </a:r>
            <a:r>
              <a:rPr lang="en-US" sz="1800" b="0" dirty="0">
                <a:latin typeface="Open sans" panose="020B0606030504020204" pitchFamily="34" charset="0"/>
              </a:rPr>
              <a:t>Insurance claim guidance is absent in most financial apps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Gap 4: </a:t>
            </a:r>
            <a:r>
              <a:rPr lang="en-US" sz="1800" b="0" dirty="0">
                <a:latin typeface="Open sans" panose="020B0606030504020204" pitchFamily="34" charset="0"/>
              </a:rPr>
              <a:t>No smart EMI/BNPL planning for medical bills in India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Opportunity: </a:t>
            </a:r>
            <a:r>
              <a:rPr lang="en-US" sz="1800" b="0" dirty="0">
                <a:latin typeface="Open sans" panose="020B0606030504020204" pitchFamily="34" charset="0"/>
              </a:rPr>
              <a:t>Build an all-in-one AI-powered Medical Expense Intelligence platform</a:t>
            </a:r>
          </a:p>
        </p:txBody>
      </p:sp>
    </p:spTree>
    <p:extLst>
      <p:ext uri="{BB962C8B-B14F-4D97-AF65-F5344CB8AC3E}">
        <p14:creationId xmlns:p14="http://schemas.microsoft.com/office/powerpoint/2010/main" val="81080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4A417-F70C-76F1-8DA7-9F84EA24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AD5367-3E92-5729-6FD7-273C70AAD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7607C-AF5E-2567-232F-3994FF9F2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Your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D9A0F-685D-2B29-DBD0-99378586E5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0" dirty="0">
                <a:latin typeface="Open sans" panose="020B0606030504020204" pitchFamily="34" charset="0"/>
              </a:rPr>
              <a:t>Smart Medical Expense Manager — an AI-powered financial health companion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Scan: </a:t>
            </a:r>
            <a:r>
              <a:rPr lang="en-US" sz="1800" b="0" dirty="0">
                <a:latin typeface="Open sans" panose="020B0606030504020204" pitchFamily="34" charset="0"/>
              </a:rPr>
              <a:t>OCR-based bill scanning that categorizes every charge automatically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Explain: </a:t>
            </a:r>
            <a:r>
              <a:rPr lang="en-US" sz="1800" b="0" dirty="0">
                <a:latin typeface="Open sans" panose="020B0606030504020204" pitchFamily="34" charset="0"/>
              </a:rPr>
              <a:t>Plain-language breakdown of medical terms and billing codes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Save: </a:t>
            </a:r>
            <a:r>
              <a:rPr lang="en-US" sz="1800" b="0" dirty="0">
                <a:latin typeface="Open sans" panose="020B0606030504020204" pitchFamily="34" charset="0"/>
              </a:rPr>
              <a:t>AI suggests cheaper alternatives for medicines and procedures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Claim: </a:t>
            </a:r>
            <a:r>
              <a:rPr lang="en-US" sz="1800" b="0" dirty="0">
                <a:latin typeface="Open sans" panose="020B0606030504020204" pitchFamily="34" charset="0"/>
              </a:rPr>
              <a:t>Step-by-step insurance claim guide based on your policy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Pay Smart: </a:t>
            </a:r>
            <a:r>
              <a:rPr lang="en-US" sz="1800" b="0" dirty="0">
                <a:latin typeface="Open sans" panose="020B0606030504020204" pitchFamily="34" charset="0"/>
              </a:rPr>
              <a:t>Recommends EMI / BNPL options based on financial profile</a:t>
            </a:r>
          </a:p>
        </p:txBody>
      </p:sp>
    </p:spTree>
    <p:extLst>
      <p:ext uri="{BB962C8B-B14F-4D97-AF65-F5344CB8AC3E}">
        <p14:creationId xmlns:p14="http://schemas.microsoft.com/office/powerpoint/2010/main" val="1347914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2507-FD22-2E16-53F4-E66535A4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CE28E-E731-156C-EDC9-D5CD678B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95F80B-DB77-DFBE-02AB-06459A8C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Key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A093E-F6A2-06B2-265C-B880832BEA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1. Bill Scanner: </a:t>
            </a:r>
            <a:r>
              <a:rPr lang="en-US" sz="1800" b="0" dirty="0">
                <a:latin typeface="Open sans" panose="020B0606030504020204" pitchFamily="34" charset="0"/>
              </a:rPr>
              <a:t>AI OCR scans hospital bills and extracts itemized data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2. Smart Categorizer: </a:t>
            </a:r>
            <a:r>
              <a:rPr lang="en-US" sz="1800" b="0" dirty="0">
                <a:latin typeface="Open sans" panose="020B0606030504020204" pitchFamily="34" charset="0"/>
              </a:rPr>
              <a:t>Auto-classifies expenses: consultation, medicine, tests, etc.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3. Price Benchmarking: </a:t>
            </a:r>
            <a:r>
              <a:rPr lang="en-US" sz="1800" b="0" dirty="0">
                <a:latin typeface="Open sans" panose="020B0606030504020204" pitchFamily="34" charset="0"/>
              </a:rPr>
              <a:t>Compares your charges against average market rates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4. Insurance Assistant: </a:t>
            </a:r>
            <a:r>
              <a:rPr lang="en-US" sz="1800" b="0" dirty="0">
                <a:latin typeface="Open sans" panose="020B0606030504020204" pitchFamily="34" charset="0"/>
              </a:rPr>
              <a:t>Detects claimable items and guides filing process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5. Payment Planner: </a:t>
            </a:r>
            <a:r>
              <a:rPr lang="en-US" sz="1800" b="0" dirty="0">
                <a:latin typeface="Open sans" panose="020B0606030504020204" pitchFamily="34" charset="0"/>
              </a:rPr>
              <a:t>Suggests personalized EMI/BNPL repayment plans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6. Expense Dashboard: </a:t>
            </a:r>
            <a:r>
              <a:rPr lang="en-US" sz="1800" b="0" dirty="0">
                <a:latin typeface="Open sans" panose="020B0606030504020204" pitchFamily="34" charset="0"/>
              </a:rPr>
              <a:t>Visual analytics for all medical spending over time</a:t>
            </a:r>
          </a:p>
        </p:txBody>
      </p:sp>
    </p:spTree>
    <p:extLst>
      <p:ext uri="{BB962C8B-B14F-4D97-AF65-F5344CB8AC3E}">
        <p14:creationId xmlns:p14="http://schemas.microsoft.com/office/powerpoint/2010/main" val="160721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CE99-2961-B95A-6509-047601B34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5206E9-DF7E-9DFF-CAC2-03673EB75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1795BD-090E-6657-E419-87C2FF670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906B9-56E0-797C-DD33-8F28BE5FF2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Frontend: </a:t>
            </a:r>
            <a:r>
              <a:rPr lang="en-US" sz="1800" b="0" dirty="0">
                <a:latin typeface="Open sans" panose="020B0606030504020204" pitchFamily="34" charset="0"/>
              </a:rPr>
              <a:t>React Native mobile app with camera bill scanner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Backend: </a:t>
            </a:r>
            <a:r>
              <a:rPr lang="en-US" sz="1800" b="0" dirty="0">
                <a:latin typeface="Open sans" panose="020B0606030504020204" pitchFamily="34" charset="0"/>
              </a:rPr>
              <a:t>Node.js / FastAPI REST API with business logic layer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AI Layer: </a:t>
            </a:r>
            <a:r>
              <a:rPr lang="en-US" sz="1800" b="0" dirty="0">
                <a:latin typeface="Open sans" panose="020B0606030504020204" pitchFamily="34" charset="0"/>
              </a:rPr>
              <a:t>Claude AI for bill understanding + GPT Vision for OCR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Database: </a:t>
            </a:r>
            <a:r>
              <a:rPr lang="en-US" sz="1800" b="0" dirty="0">
                <a:latin typeface="Open sans" panose="020B0606030504020204" pitchFamily="34" charset="0"/>
              </a:rPr>
              <a:t>PostgreSQL for user data + MongoDB for unstructured bill data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Integrations: </a:t>
            </a:r>
            <a:r>
              <a:rPr lang="en-US" sz="1800" b="0" dirty="0">
                <a:latin typeface="Open sans" panose="020B0606030504020204" pitchFamily="34" charset="0"/>
              </a:rPr>
              <a:t>Insurance APIs, payment gateways (Razorpay), drug price APIs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Security: </a:t>
            </a:r>
            <a:r>
              <a:rPr lang="en-US" sz="1800" b="0" dirty="0">
                <a:latin typeface="Open sans" panose="020B0606030504020204" pitchFamily="34" charset="0"/>
              </a:rPr>
              <a:t>End-to-end encryption, OAuth2 authentication, HIPAA-aligned</a:t>
            </a:r>
          </a:p>
        </p:txBody>
      </p:sp>
    </p:spTree>
    <p:extLst>
      <p:ext uri="{BB962C8B-B14F-4D97-AF65-F5344CB8AC3E}">
        <p14:creationId xmlns:p14="http://schemas.microsoft.com/office/powerpoint/2010/main" val="696313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81B4-DCB3-98E2-06A8-576EFC80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17783E-C433-A152-F467-61CD75CD3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1FA6C2-5A0A-1FF0-1EBE-5E203A16E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Tech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79BA1-238F-16C1-81DD-F89092E266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Mobile: </a:t>
            </a:r>
            <a:r>
              <a:rPr lang="en-US" sz="1800" b="0" dirty="0">
                <a:latin typeface="Open sans" panose="020B0606030504020204" pitchFamily="34" charset="0"/>
              </a:rPr>
              <a:t>React Native (iOS &amp; Android cross-platform app)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Backend: </a:t>
            </a:r>
            <a:r>
              <a:rPr lang="en-US" sz="1800" b="0" dirty="0">
                <a:latin typeface="Open sans" panose="020B0606030504020204" pitchFamily="34" charset="0"/>
              </a:rPr>
              <a:t>Python FastAPI + Node.js microservices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AI / ML: </a:t>
            </a:r>
            <a:r>
              <a:rPr lang="en-US" sz="1800" b="0" dirty="0">
                <a:latin typeface="Open sans" panose="020B0606030504020204" pitchFamily="34" charset="0"/>
              </a:rPr>
              <a:t>Claude API (Anthropic), Google Vision OCR, scikit-learn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Database: </a:t>
            </a:r>
            <a:r>
              <a:rPr lang="en-US" sz="1800" b="0" dirty="0">
                <a:latin typeface="Open sans" panose="020B0606030504020204" pitchFamily="34" charset="0"/>
              </a:rPr>
              <a:t>PostgreSQL, MongoDB, Redis (caching)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Cloud: </a:t>
            </a:r>
            <a:r>
              <a:rPr lang="en-US" sz="1800" b="0" dirty="0">
                <a:latin typeface="Open sans" panose="020B0606030504020204" pitchFamily="34" charset="0"/>
              </a:rPr>
              <a:t>AWS (S3 for bills, EC2, Lambda for serverless functions)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DevOps: </a:t>
            </a:r>
            <a:r>
              <a:rPr lang="en-US" sz="1800" b="0" dirty="0">
                <a:latin typeface="Open sans" panose="020B0606030504020204" pitchFamily="34" charset="0"/>
              </a:rPr>
              <a:t>Docker, GitHub Actions CI/CD, Postman for API testing</a:t>
            </a:r>
          </a:p>
        </p:txBody>
      </p:sp>
    </p:spTree>
    <p:extLst>
      <p:ext uri="{BB962C8B-B14F-4D97-AF65-F5344CB8AC3E}">
        <p14:creationId xmlns:p14="http://schemas.microsoft.com/office/powerpoint/2010/main" val="214868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1831-6846-427E-64BB-10140215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831684-E944-D21A-AEB7-C0CD07568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31271-7B83-E6B0-4697-A9B3A4A0B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3AC6F-97B4-C038-5116-BCDB0E747F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Step 1: </a:t>
            </a:r>
            <a:r>
              <a:rPr lang="en-US" sz="1800" b="0" dirty="0">
                <a:latin typeface="Open sans" panose="020B0606030504020204" pitchFamily="34" charset="0"/>
              </a:rPr>
              <a:t>User uploads/scans a medical bill via the mobile app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Step 2: </a:t>
            </a:r>
            <a:r>
              <a:rPr lang="en-US" sz="1800" b="0" dirty="0">
                <a:latin typeface="Open sans" panose="020B0606030504020204" pitchFamily="34" charset="0"/>
              </a:rPr>
              <a:t>OCR engine extracts text; AI parses and categorizes charges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Step 3: </a:t>
            </a:r>
            <a:r>
              <a:rPr lang="en-US" sz="1800" b="0" dirty="0">
                <a:latin typeface="Open sans" panose="020B0606030504020204" pitchFamily="34" charset="0"/>
              </a:rPr>
              <a:t>System benchmarks prices against database of standard rates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Step 4: </a:t>
            </a:r>
            <a:r>
              <a:rPr lang="en-US" sz="1800" b="0" dirty="0">
                <a:latin typeface="Open sans" panose="020B0606030504020204" pitchFamily="34" charset="0"/>
              </a:rPr>
              <a:t>Insurance module identifies claimable items for the user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Step 5: </a:t>
            </a:r>
            <a:r>
              <a:rPr lang="en-US" sz="1800" b="0" dirty="0">
                <a:latin typeface="Open sans" panose="020B0606030504020204" pitchFamily="34" charset="0"/>
              </a:rPr>
              <a:t>Payment planner calculates optimal EMI/BNPL breakdown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Step 6: </a:t>
            </a:r>
            <a:r>
              <a:rPr lang="en-US" sz="1800" b="0" dirty="0">
                <a:latin typeface="Open sans" panose="020B0606030504020204" pitchFamily="34" charset="0"/>
              </a:rPr>
              <a:t>User receives actionable insights and savings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721136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2F5D3-4344-4362-805C-8F963B27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FB6C13-3B8B-52D8-104D-1E08E396A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824925-7E47-111A-5B2A-714F7E54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92949-4812-3723-5970-052C9D70C0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Financial: </a:t>
            </a:r>
            <a:r>
              <a:rPr lang="en-US" sz="1800" b="0" dirty="0">
                <a:latin typeface="Open sans" panose="020B0606030504020204" pitchFamily="34" charset="0"/>
              </a:rPr>
              <a:t>Potential 20-30% savings on medical bills through smarter decisions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Time: </a:t>
            </a:r>
            <a:r>
              <a:rPr lang="en-US" sz="1800" b="0" dirty="0">
                <a:latin typeface="Open sans" panose="020B0606030504020204" pitchFamily="34" charset="0"/>
              </a:rPr>
              <a:t>Reduces insurance claim processing time from days to minutes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Awareness: </a:t>
            </a:r>
            <a:r>
              <a:rPr lang="en-US" sz="1800" b="0" dirty="0">
                <a:latin typeface="Open sans" panose="020B0606030504020204" pitchFamily="34" charset="0"/>
              </a:rPr>
              <a:t>Educates patients on their rights and billing transparency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Accessibility: </a:t>
            </a:r>
            <a:r>
              <a:rPr lang="en-US" sz="1800" b="0" dirty="0">
                <a:latin typeface="Open sans" panose="020B0606030504020204" pitchFamily="34" charset="0"/>
              </a:rPr>
              <a:t>Brings financial health planning to tier-2 and tier-3 cities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Scale: </a:t>
            </a:r>
            <a:r>
              <a:rPr lang="en-US" sz="1800" b="0" dirty="0">
                <a:latin typeface="Open sans" panose="020B0606030504020204" pitchFamily="34" charset="0"/>
              </a:rPr>
              <a:t>Targeting 1M users in Year 1 across India’s urban centers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Social: </a:t>
            </a:r>
            <a:r>
              <a:rPr lang="en-US" sz="1800" b="0" dirty="0">
                <a:latin typeface="Open sans" panose="020B0606030504020204" pitchFamily="34" charset="0"/>
              </a:rPr>
              <a:t>Reduces medical debt stress affecting millions of Indian families</a:t>
            </a:r>
          </a:p>
        </p:txBody>
      </p:sp>
    </p:spTree>
    <p:extLst>
      <p:ext uri="{BB962C8B-B14F-4D97-AF65-F5344CB8AC3E}">
        <p14:creationId xmlns:p14="http://schemas.microsoft.com/office/powerpoint/2010/main" val="2001245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0058-2A1B-9A2D-4ACF-404877CE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AED9E8-8E9E-772E-A148-23AF520FE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38C520-B6A8-E5A5-6C12-E50EB51E1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0CB7A-4CE2-C98F-181A-2955692E4C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Phase 2: </a:t>
            </a:r>
            <a:r>
              <a:rPr lang="en-US" sz="1800" b="0" dirty="0">
                <a:latin typeface="Open sans" panose="020B0606030504020204" pitchFamily="34" charset="0"/>
              </a:rPr>
              <a:t>Integration with hospital EHR systems for real-time billing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Phase 3: </a:t>
            </a:r>
            <a:r>
              <a:rPr lang="en-US" sz="1800" b="0" dirty="0">
                <a:latin typeface="Open sans" panose="020B0606030504020204" pitchFamily="34" charset="0"/>
              </a:rPr>
              <a:t>Predictive expense planning based on health history and age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Phase 4: </a:t>
            </a:r>
            <a:r>
              <a:rPr lang="en-US" sz="1800" b="0" dirty="0">
                <a:latin typeface="Open sans" panose="020B0606030504020204" pitchFamily="34" charset="0"/>
              </a:rPr>
              <a:t>AI-powered pre-authorization assistance for insurance claims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Expansion: </a:t>
            </a:r>
            <a:r>
              <a:rPr lang="en-US" sz="1800" b="0" dirty="0">
                <a:latin typeface="Open sans" panose="020B0606030504020204" pitchFamily="34" charset="0"/>
              </a:rPr>
              <a:t>Multi-country support (Southeast Asia, Middle East markets)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Partnerships: </a:t>
            </a:r>
            <a:r>
              <a:rPr lang="en-US" sz="1800" b="0" dirty="0">
                <a:latin typeface="Open sans" panose="020B0606030504020204" pitchFamily="34" charset="0"/>
              </a:rPr>
              <a:t>Tie-ups with hospitals, pharmacies, and NBFC lenders for EMI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en-US" sz="1800" b="1" dirty="0">
                <a:latin typeface="Open sans" panose="020B0606030504020204" pitchFamily="34" charset="0"/>
              </a:rPr>
              <a:t>Vision: </a:t>
            </a:r>
            <a:r>
              <a:rPr lang="en-US" sz="1800" b="0" dirty="0">
                <a:latin typeface="Open sans" panose="020B0606030504020204" pitchFamily="34" charset="0"/>
              </a:rPr>
              <a:t>Become India’s #1 personal medical finance management platform</a:t>
            </a:r>
          </a:p>
        </p:txBody>
      </p:sp>
    </p:spTree>
    <p:extLst>
      <p:ext uri="{BB962C8B-B14F-4D97-AF65-F5344CB8AC3E}">
        <p14:creationId xmlns:p14="http://schemas.microsoft.com/office/powerpoint/2010/main" val="3624677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C9BC0-B449-3880-DCF1-3623A942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3DCD4-1187-52B4-EA97-0B89E26E6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34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C69965-D790-CADB-8E84-39390523C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Team Info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A35DE3-EB13-2BDB-C6EF-256EC4ACC7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897087" y="3474464"/>
            <a:ext cx="4942326" cy="147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Prajwal.L</a:t>
            </a: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: leader 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18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Vedanth.N</a:t>
            </a: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full stack developer 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Ujwal </a:t>
            </a:r>
            <a:r>
              <a:rPr lang="en-US" sz="18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khatiwada</a:t>
            </a: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: UI/UX designer 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Balaji Naidu : Supporter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36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802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Montserrat</vt:lpstr>
      <vt:lpstr>Open sans</vt:lpstr>
      <vt:lpstr>Office Theme</vt:lpstr>
      <vt:lpstr>Smart Medical Expense Manager</vt:lpstr>
      <vt:lpstr>Problem Statement</vt:lpstr>
      <vt:lpstr>Target Audience</vt:lpstr>
      <vt:lpstr>Existing Solutions</vt:lpstr>
      <vt:lpstr>Gaps &amp; Opportunities</vt:lpstr>
      <vt:lpstr>Your Solution</vt:lpstr>
      <vt:lpstr>Key Features</vt:lpstr>
      <vt:lpstr>System Architecture</vt:lpstr>
      <vt:lpstr>Tech Stack</vt:lpstr>
      <vt:lpstr>Workflow</vt:lpstr>
      <vt:lpstr>Impact</vt:lpstr>
      <vt:lpstr>Future Scope</vt:lpstr>
      <vt:lpstr>Team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Pranav</dc:creator>
  <cp:lastModifiedBy>Balajinaidu8688262794@outlook.com</cp:lastModifiedBy>
  <cp:revision>23</cp:revision>
  <dcterms:created xsi:type="dcterms:W3CDTF">2026-04-04T11:36:02Z</dcterms:created>
  <dcterms:modified xsi:type="dcterms:W3CDTF">2026-04-06T09:37:42Z</dcterms:modified>
</cp:coreProperties>
</file>